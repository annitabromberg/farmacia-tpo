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“Buenas, somos el Grupo 4 y desarrollamos un sistema de gestión para una farmacia en Python. Les vamos a contar qué hace, cómo lo organizamos y después lo mostramos funcionando.”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El sistema tiene cuatro áreas. Productos y clientes tienen un CRUD completo: alta, consulta individual y general, modificación y baja. Desde Ventas se le vende un producto a un cliente y el sistema controla que haya stock y que, si el medicamento requiere receta, el cliente tenga receta online. Y en Informes generamos reportes en forma de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La entidad principal es el producto. Lo guardamos como un diccionario de diccionarios: la clave es el código y el valor es otro diccionario con seis atributos. Al principio lo teníamos como lista de diccionarios y lo cambiamos, porque así buscamos un producto directamente por su código. Un detalle importante: JSON guarda las claves siempre como texto, entonces cuando el usuario escribe el código como número, lo convertimos con str() antes de buscarlo.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1: Dividimos el código en módulos para que cada archivo tenga una sola responsabilidad. menu.py es el que se ejecuta. crud.py tiene el alta, baja, modificación y consulta. ventas.py las reglas de la venta. archivos.py concentra todo lo que es leer y escribir archivos, y validaciones.py las funciones que piden datos por teclado. Todas las funciones están documentadas con docstrings. Ahora le paso a [Integrante 2].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Los datos ya no están en la memoria del programa. La precarga está en dos archivos iniciales: productos_inicial.json y clientes_inicial.json. La primera vez que se ejecuta, precarga.py los copia a los archivos de trabajo. Cada vez que agregamos, modificamos o borramos, se sobrescribe el JSON con la última versión del diccionario. Además implementamos una segunda forma de persistencia: cada venta se guarda como una línea en un archivo de texto, ventas.txt, abierto en modo “a” para agregar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Pusimos try/except en todos los lugares donde algo puede fallar: al convertir lo que escribe el usuario a entero, al buscar en el diccionario, y al abrir, leer y guardar archivos. Por ejemplo, si en el precio escriben letras, en vez de cortarse con un ValueError, el programa avisa y vuelve a preguntar. Esto lo centralizamos en validaciones.py, en funciones como validar_entero. Y usamos finally para asegurarnos de cerrar el archivo siempre.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2: La venta es la parte con más lógica. Primero buscamos cliente y producto por código. Si el producto requiere receta, el cliente tiene que tener receta online; si no, no se puede vender. La cantidad se valida entre 1 y el stock disponible, así nunca queda stock negativo. Si el cliente tiene obra social le aplicamos 40% de descuento, solo en medicamentos. Las formas de pago están en un conjunto: efectivo, débito y crédito. Al confirmar, se descuenta el stock en el JSON y se registra la venta en ventas.txt. Le paso a [Integrante 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Para los informes armamos matrices, es decir, listas de listas. Este es el resumen por categoría: por cada categoría cuenta los productos, suma las unidades y calcula el valor del stock. Con matplotlib generamos además este gráfico de barras; si matplotlib no está instalado, el programa lo avisa y sigue funcionando. También hay un informe de bajo stock, donde usamos una lista por comprensión y una lambda para ordenar, y una matriz de ventas que lee el archivo ventas.txt.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Acá resumimos dónde está cada punto que pide la consigna, por si quieren verlo en el código. Destacamos que implementamos las dos opciones de persistencia: JSON para productos y clientes, y archivo de texto para el historial de ventas.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3: Usamos IA como apoyo, sobre todo para revisar qué nos faltaba de la consigna y para generar datos de precarga. No copiamos todo: lo que usaba estructuras que no vimos en clase lo reemplazamos por cosas que sí vimos. Los errores más frecuentes fueron: el KeyError porque JSON guarda las claves como texto, el ValueError al convertir lo que escribe el usuario, el FileNotFoundError cuando ejecutábamos desde otra carpeta, y en la primera versión, borrar elementos de una lista mientras la recorríamos.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Integrante 3 maneja la compu; Integrantes 1 y 2 explican. Antes de exponer: elegir la opción 5 del menú para restaurar los datos iniciales. Demo: (1) Productos → Agregar: en precio escribir “abc” para mostrar la validación. (2) Venta: cliente 2 (Juan, sin receta), producto 3 (Amoxicilina) → el sistema la rechaza. (3) Venta: cliente 1 (Ana, OSDE), producto 1, cantidad 3 → $7500 con 40% = $4500. (4) Informes → Resumen por categoría.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6329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70980"/>
            <a:ext cx="10566400" cy="407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3D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6329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70980"/>
            <a:ext cx="10566400" cy="4074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3D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2A9D8F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25000" y="2159000"/>
            <a:ext cx="1905000" cy="635000"/>
          </a:xfrm>
          <a:prstGeom prst="roundRect">
            <a:avLst>
              <a:gd name="adj" fmla="val 24000"/>
            </a:avLst>
          </a:prstGeom>
          <a:solidFill>
            <a:srgbClr val="2A9D8F"/>
          </a:solidFill>
          <a:ln/>
        </p:spPr>
      </p:sp>
      <p:sp>
        <p:nvSpPr>
          <p:cNvPr id="4" name="Shape 2"/>
          <p:cNvSpPr/>
          <p:nvPr/>
        </p:nvSpPr>
        <p:spPr>
          <a:xfrm>
            <a:off x="10160000" y="1524000"/>
            <a:ext cx="635000" cy="1905000"/>
          </a:xfrm>
          <a:prstGeom prst="roundRect">
            <a:avLst>
              <a:gd name="adj" fmla="val 24000"/>
            </a:avLst>
          </a:prstGeom>
          <a:solidFill>
            <a:srgbClr val="2A9D8F"/>
          </a:solidFill>
          <a:ln/>
        </p:spPr>
      </p:sp>
      <p:sp>
        <p:nvSpPr>
          <p:cNvPr id="5" name="Text 3"/>
          <p:cNvSpPr/>
          <p:nvPr/>
        </p:nvSpPr>
        <p:spPr>
          <a:xfrm>
            <a:off x="812800" y="184155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7FD1C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TPO SPRINT 1 · PROGRAMACIÓN I</a:t>
            </a:r>
            <a:endParaRPr lang="en-US" sz="1600" dirty="0"/>
          </a:p>
        </p:txBody>
      </p:sp>
      <p:sp>
        <p:nvSpPr>
          <p:cNvPr id="6" name="Text 4"/>
          <p:cNvSpPr/>
          <p:nvPr>
            <p:ph type="title"/>
          </p:nvPr>
        </p:nvSpPr>
        <p:spPr>
          <a:xfrm>
            <a:off x="812800" y="2380010"/>
            <a:ext cx="7848600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8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Sistema de Gestión de Farmacia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4234210"/>
            <a:ext cx="7521575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FD8D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Productos, clientes, ventas e informes desde la consola, con datos guardados en archivos.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2800" y="5963940"/>
            <a:ext cx="78486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6F8F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</a:t>
            </a:r>
            <a:r>
              <a:rPr lang="en-US" sz="1600" dirty="0">
                <a:solidFill>
                  <a:srgbClr val="F6F8F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· Anna Bromberg · Angela Romero · Maria Josefina Velazquez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QUÉ HACE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Cuatro áreas de una farmacia real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24955"/>
            <a:ext cx="2482850" cy="381387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pic>
        <p:nvPicPr>
          <p:cNvPr id="5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28213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815530"/>
            <a:ext cx="20275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Productos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73150" y="3277791"/>
            <a:ext cx="202755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Alta, búsqueda, modificación y baja. Listado por código o por precio.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508375" y="2024955"/>
            <a:ext cx="2482850" cy="381387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pic>
        <p:nvPicPr>
          <p:cNvPr id="9" name="Image 1" descr="User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765550" y="2282130"/>
            <a:ext cx="406400" cy="406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65550" y="2815530"/>
            <a:ext cx="20275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Clientes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3765550" y="3277791"/>
            <a:ext cx="202755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CRUD completo, con obra social y receta online.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00775" y="2024955"/>
            <a:ext cx="2482850" cy="381387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pic>
        <p:nvPicPr>
          <p:cNvPr id="13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57950" y="2282130"/>
            <a:ext cx="406400" cy="406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57950" y="2815530"/>
            <a:ext cx="20275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Ventas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457950" y="3277791"/>
            <a:ext cx="2027555" cy="105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Controla stock y receta, aplica descuento y descuenta unidades.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893175" y="2024955"/>
            <a:ext cx="2482850" cy="3813870"/>
          </a:xfrm>
          <a:prstGeom prst="roundRect">
            <a:avLst>
              <a:gd name="adj" fmla="val 4987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pic>
        <p:nvPicPr>
          <p:cNvPr id="17" name="Image 3" descr="Char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50350" y="2282130"/>
            <a:ext cx="406400" cy="4064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50350" y="2815530"/>
            <a:ext cx="2027555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Informes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9150350" y="3277791"/>
            <a:ext cx="2027555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Reportes matriciales de stock, categorías y ventas, con gráfico.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ESTRUCTURA DE DATOS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 diccionario de diccionarios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980"/>
            <a:ext cx="5461000" cy="3343473"/>
          </a:xfrm>
          <a:prstGeom prst="roundRect">
            <a:avLst>
              <a:gd name="adj" fmla="val 3798"/>
            </a:avLst>
          </a:prstGeom>
          <a:solidFill>
            <a:srgbClr val="0F3D3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24980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7FD1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productos</a:t>
            </a: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{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482751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F4A26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"1"</a:t>
            </a: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{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66800" y="2740521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"nombre": "Paracetamol 500mg",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6800" y="2998291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"categoria": "Medicamentos",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66800" y="3256062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"precio": 2500,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6800" y="3513832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"stock": 20,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66800" y="3771602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"requiere_receta": false,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66800" y="4029373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"laboratorio": "Bayer"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6800" y="4287143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},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6800" y="4544913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dirty="0">
                <a:solidFill>
                  <a:srgbClr val="F4A261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"2"</a:t>
            </a: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: { ... }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66800" y="4802684"/>
            <a:ext cx="510159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1970980"/>
            <a:ext cx="48922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Clave = código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629400" y="2326580"/>
            <a:ext cx="489229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Buscamos directo con productos["1"], sin recorrer una lista.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069530"/>
            <a:ext cx="48922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 atributos por producto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629400" y="3425130"/>
            <a:ext cx="489229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Clientes: 5 atributos. Precarga de 8 productos y 6 clientes.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29400" y="4168080"/>
            <a:ext cx="48922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Claves como texto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4523680"/>
            <a:ext cx="4892294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JSON solo guarda claves string, por eso usamos str(codigo).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 name="Slide 4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ORGANIZACIÓN DEL CÓDIGO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Siete módulos, una tarea cada uno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980"/>
            <a:ext cx="3403600" cy="1310580"/>
          </a:xfrm>
          <a:prstGeom prst="roundRect">
            <a:avLst>
              <a:gd name="adj" fmla="val 9690"/>
            </a:avLst>
          </a:prstGeom>
          <a:solidFill>
            <a:srgbClr val="0F3D3A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2199580"/>
            <a:ext cx="30347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FD1C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menu.py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1400" y="2560241"/>
            <a:ext cx="317500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E6F2E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Archivo principal. Menú y submenús.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97375" y="1974155"/>
            <a:ext cx="3397250" cy="130423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9150" y="2205930"/>
            <a:ext cx="30217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crud.py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629150" y="256659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Create, Read, Update y Delete de productos y clientes.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78775" y="1974155"/>
            <a:ext cx="3397250" cy="130423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10550" y="2205930"/>
            <a:ext cx="30217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ventas.py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0550" y="256659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Reglas de la venta y cálculo del total.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5975" y="3462536"/>
            <a:ext cx="3397250" cy="130423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7750" y="3694311"/>
            <a:ext cx="30217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archivos.py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47750" y="405497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Leer y guardar JSON y el historial ventas.txt.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97375" y="3462536"/>
            <a:ext cx="3397250" cy="130423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9150" y="3694311"/>
            <a:ext cx="30217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validaciones.py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629150" y="405497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Validar datos ingresados y tipos/campos guardados.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978775" y="3462536"/>
            <a:ext cx="3397250" cy="1304230"/>
          </a:xfrm>
          <a:prstGeom prst="roundRect">
            <a:avLst>
              <a:gd name="adj" fmla="val 9494"/>
            </a:avLst>
          </a:prstGeom>
          <a:solidFill>
            <a:srgbClr val="FFFFFF"/>
          </a:solidFill>
          <a:ln w="6350">
            <a:solidFill>
              <a:srgbClr val="D9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10550" y="3694311"/>
            <a:ext cx="30217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F7A6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informes.py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10550" y="4054971"/>
            <a:ext cx="30217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Reportes matriciales y gráfico de barras.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5074741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precarga.py carga los datos iniciales. Las funciones tienen docstring.</a:t>
            </a:r>
            <a:r>
              <a:rPr lang="en-US" sz="1400" b="1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b="1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5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PERSISTENCIA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Los datos se guardan en archivos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70980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JSON · PRODUCTOS Y CLIENTES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9150" y="2344341"/>
            <a:ext cx="2400300" cy="530820"/>
          </a:xfrm>
          <a:prstGeom prst="roundRect">
            <a:avLst>
              <a:gd name="adj" fmla="val 17944"/>
            </a:avLst>
          </a:prstGeom>
          <a:solidFill>
            <a:srgbClr val="FFFFFF"/>
          </a:solidFill>
          <a:ln w="12700">
            <a:solidFill>
              <a:srgbClr val="D9E3E0"/>
            </a:solidFill>
            <a:prstDash val="solid"/>
          </a:ln>
        </p:spPr>
        <p:txBody>
          <a:bodyPr wrap="square" lIns="99610" tIns="130852" rIns="99610" bIns="10545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3D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productos_inicial.json</a:t>
            </a:r>
            <a:endParaRPr lang="en-US" sz="1200" dirty="0"/>
          </a:p>
        </p:txBody>
      </p:sp>
      <p:pic>
        <p:nvPicPr>
          <p:cNvPr id="6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327400" y="2546251"/>
            <a:ext cx="457200" cy="127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92550" y="2344341"/>
            <a:ext cx="1892300" cy="530820"/>
          </a:xfrm>
          <a:prstGeom prst="roundRect">
            <a:avLst>
              <a:gd name="adj" fmla="val 17944"/>
            </a:avLst>
          </a:prstGeom>
          <a:solidFill>
            <a:srgbClr val="FFFFFF"/>
          </a:solidFill>
          <a:ln w="12700">
            <a:solidFill>
              <a:srgbClr val="D9E3E0"/>
            </a:solidFill>
            <a:prstDash val="solid"/>
          </a:ln>
        </p:spPr>
        <p:txBody>
          <a:bodyPr wrap="square" lIns="105452" tIns="130852" rIns="105452" bIns="10545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3D3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precarga.py</a:t>
            </a:r>
            <a:endParaRPr lang="en-US" sz="1200" dirty="0"/>
          </a:p>
        </p:txBody>
      </p:sp>
      <p:pic>
        <p:nvPicPr>
          <p:cNvPr id="8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92800" y="2546251"/>
            <a:ext cx="457200" cy="127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1600" y="2350691"/>
            <a:ext cx="1905000" cy="518120"/>
          </a:xfrm>
          <a:prstGeom prst="roundRect">
            <a:avLst>
              <a:gd name="adj" fmla="val 19609"/>
            </a:avLst>
          </a:prstGeom>
          <a:solidFill>
            <a:srgbClr val="0F3D3A"/>
          </a:solidFill>
          <a:ln/>
        </p:spPr>
        <p:txBody>
          <a:bodyPr wrap="square" lIns="97242" tIns="122642" rIns="97242" bIns="9724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productos.json</a:t>
            </a:r>
            <a:endParaRPr lang="en-US" sz="1200" dirty="0"/>
          </a:p>
        </p:txBody>
      </p:sp>
      <p:pic>
        <p:nvPicPr>
          <p:cNvPr id="10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58200" y="2546251"/>
            <a:ext cx="457200" cy="12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023350" y="2335461"/>
            <a:ext cx="1892300" cy="548630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12700">
            <a:solidFill>
              <a:srgbClr val="D9E3E0"/>
            </a:solidFill>
            <a:prstDash val="solid"/>
          </a:ln>
        </p:spPr>
        <p:txBody>
          <a:bodyPr wrap="square" lIns="105452" tIns="130852" rIns="105452" bIns="10545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3D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CRUD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812800" y="3195241"/>
            <a:ext cx="10883392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TEXTO PLANO · HISTORIAL DE VENTAS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19150" y="3559721"/>
            <a:ext cx="2400300" cy="548630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12700">
            <a:solidFill>
              <a:srgbClr val="D9E3E0"/>
            </a:solidFill>
            <a:prstDash val="solid"/>
          </a:ln>
        </p:spPr>
        <p:txBody>
          <a:bodyPr wrap="square" lIns="99610" tIns="130852" rIns="99610" bIns="10545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3D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Nueva venta</a:t>
            </a:r>
            <a:endParaRPr lang="en-US" sz="1300" dirty="0"/>
          </a:p>
        </p:txBody>
      </p:sp>
      <p:pic>
        <p:nvPicPr>
          <p:cNvPr id="14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327400" y="3770511"/>
            <a:ext cx="457200" cy="127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886200" y="3574951"/>
            <a:ext cx="1905000" cy="518120"/>
          </a:xfrm>
          <a:prstGeom prst="roundRect">
            <a:avLst>
              <a:gd name="adj" fmla="val 19609"/>
            </a:avLst>
          </a:prstGeom>
          <a:solidFill>
            <a:srgbClr val="0F3D3A"/>
          </a:solidFill>
          <a:ln/>
        </p:spPr>
        <p:txBody>
          <a:bodyPr wrap="square" lIns="97242" tIns="122642" rIns="97242" bIns="97242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F2E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ventas.txt</a:t>
            </a:r>
            <a:endParaRPr lang="en-US" sz="1200" dirty="0"/>
          </a:p>
        </p:txBody>
      </p:sp>
      <p:pic>
        <p:nvPicPr>
          <p:cNvPr id="16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892800" y="3770511"/>
            <a:ext cx="457200" cy="1270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457950" y="3559721"/>
            <a:ext cx="1892300" cy="548630"/>
          </a:xfrm>
          <a:prstGeom prst="roundRect">
            <a:avLst>
              <a:gd name="adj" fmla="val 17361"/>
            </a:avLst>
          </a:prstGeom>
          <a:solidFill>
            <a:srgbClr val="FFFFFF"/>
          </a:solidFill>
          <a:ln w="12700">
            <a:solidFill>
              <a:srgbClr val="D9E3E0"/>
            </a:solidFill>
            <a:prstDash val="solid"/>
          </a:ln>
        </p:spPr>
        <p:txBody>
          <a:bodyPr wrap="square" lIns="105452" tIns="130852" rIns="105452" bIns="10545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3D3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Informe ventas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812800" y="4419501"/>
            <a:ext cx="10883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Antes de leer y guardar validamos los datos del JSON. Si no son válidos, se informa y se detiene la operación. Las ventas se agregan al final con open(..., "a").</a:t>
            </a: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b="1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powerpoint/2010/main" xmlns:p="http://schemas.openxmlformats.org/presentationml/2006/main">
  <p:cSld name="Slide 6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MANEJO DE EXCEPCIONES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Errores bajo control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980"/>
            <a:ext cx="10566400" cy="2714774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825500" y="1983680"/>
          <a:ext cx="10553700" cy="2702074"/>
        </p:xfrm>
        <a:graphic>
          <a:graphicData uri="http://schemas.openxmlformats.org/drawingml/2006/table">
            <a:tbl>
              <a:tblPr/>
              <a:tblGrid>
                <a:gridCol w="2955036"/>
                <a:gridCol w="3799332"/>
                <a:gridCol w="3799332"/>
              </a:tblGrid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Excepción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Cuándo ocurre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Qué hace el programa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ValueError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Escriben “abc” en un número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Avisa y vuelve a preguntar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KeyError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Código que no existe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“No existe un producto”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FileNotFoundError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Falta el JSON de trabajo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La precarga lo copia si existe el inicial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ValueError (JSON)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El JSON está mal formado o tiene tipos incorrectos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Avisa y detiene la operación; se puede restaurar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OSError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No se puede guardar el JSON o el historial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Avisa; intenta restaurar stock si falla el historial.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KeyboardInterrupt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Apretan Ctrl+C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Cierra sin mostrar errores</a:t>
                      </a:r>
                      <a:endParaRPr lang="en-US" sz="14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4990554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try/except captura errores; JSON se valida al leer y guardar. finally cierra el archivo.</a:t>
            </a:r>
            <a:r>
              <a:rPr lang="en-US" sz="1400" b="1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Slide 7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REGLAS DE NEGOCIO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Cómo se hace una venta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217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2A9D8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580580"/>
            <a:ext cx="2051060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Cliente y producto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230761"/>
            <a:ext cx="2051060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Se buscan por código. Si no existen, se cancela.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56520" y="20217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2A9D8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956520" y="2580580"/>
            <a:ext cx="20511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Receta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956520" y="2956471"/>
            <a:ext cx="205111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Si el remedio la pide, el cliente debe tener receta online.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00290" y="20217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2A9D8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00290" y="2580580"/>
            <a:ext cx="20511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Stock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00290" y="2956471"/>
            <a:ext cx="20511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 cantidad va de 1 al stock disponible.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244060" y="20217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2A9D8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244060" y="2580580"/>
            <a:ext cx="20511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Descuento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244060" y="2956471"/>
            <a:ext cx="2051111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40% en Medicamentos si tiene obra social.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87830" y="202178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arcTo hR="228600" wR="228600" stAng="16200000" swAng="5400000"/>
                <a:lnTo>
                  <a:pt x="457200" y="228600"/>
                </a:lnTo>
                <a:arcTo hR="228600" wR="228600" stAng="0" swAng="5400000"/>
                <a:lnTo>
                  <a:pt x="228600" y="457200"/>
                </a:lnTo>
                <a:arcTo hR="228600" wR="228600" stAng="5400000" swAng="5400000"/>
                <a:lnTo>
                  <a:pt x="0" y="228600"/>
                </a:lnTo>
                <a:arcTo hR="228600" wR="228600" stAng="10800000" swAng="5400000"/>
                <a:close/>
              </a:path>
            </a:pathLst>
          </a:custGeom>
          <a:solidFill>
            <a:srgbClr val="2A9D8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87830" y="2580580"/>
            <a:ext cx="2051111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Pago y registro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387830" y="2956471"/>
            <a:ext cx="2051111" cy="7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Efectivo, débito o crédito. Se guarda la venta; si falla, se intenta restaurar el stock.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066381"/>
            <a:ext cx="10566400" cy="1041350"/>
          </a:xfrm>
          <a:prstGeom prst="roundRect">
            <a:avLst>
              <a:gd name="adj" fmla="val 12196"/>
            </a:avLst>
          </a:prstGeom>
          <a:solidFill>
            <a:srgbClr val="0F3D3A"/>
          </a:solidFill>
          <a:ln/>
        </p:spPr>
      </p:sp>
      <p:sp>
        <p:nvSpPr>
          <p:cNvPr id="20" name="Text 18"/>
          <p:cNvSpPr/>
          <p:nvPr/>
        </p:nvSpPr>
        <p:spPr>
          <a:xfrm>
            <a:off x="1117600" y="4294981"/>
            <a:ext cx="1025550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spc="100" kern="0" dirty="0">
                <a:solidFill>
                  <a:srgbClr val="7FD1C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EJEMPLO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7600" y="4576911"/>
            <a:ext cx="1025550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F6F8F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Ana (OSDE) compra 3 Paracetamol: $7500 − 40% = </a:t>
            </a:r>
            <a:r>
              <a:rPr lang="en-US" sz="1700" b="1" dirty="0">
                <a:solidFill>
                  <a:srgbClr val="F6F8F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$4500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 name="Slide 8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INFORMES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Reportes matriciales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980"/>
            <a:ext cx="5435600" cy="1449983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ns2:modId val="1579011935"/>
              </p:ext>
            </p:extLst>
          </p:nvPr>
        </p:nvGraphicFramePr>
        <p:xfrm>
          <a:off x="825500" y="1983680"/>
          <a:ext cx="5422900" cy="1437283"/>
        </p:xfrm>
        <a:graphic>
          <a:graphicData uri="http://schemas.openxmlformats.org/drawingml/2006/table">
            <a:tbl>
              <a:tblPr/>
              <a:tblGrid>
                <a:gridCol w="2169160"/>
                <a:gridCol w="976122"/>
                <a:gridCol w="976122"/>
                <a:gridCol w="1301496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Categoría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Prod.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Unid.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Valor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Medicamentos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5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64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$224000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Cuidado personal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2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12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$78000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Perfumeria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1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3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$54000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3598763"/>
            <a:ext cx="559866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Hay tres informes matriciales: stock, categorías y ventas.</a:t>
            </a:r>
            <a:r>
              <a:rPr lang="en-US" sz="1400" b="1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/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3847654"/>
            <a:ext cx="559866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El informe de bajo stock es un listado ordenado; usa lista por comprensión y lambda.</a:t>
            </a:r>
            <a:endParaRPr lang="en-US" sz="1400" dirty="0"/>
          </a:p>
        </p:txBody>
      </p:sp>
      <p:pic>
        <p:nvPicPr>
          <p:cNvPr id="8" name="Image 0" descr="Gráfico de barras: unidades en stock por categoría. Medicamentos 64, Cuidado personal 12, Perfumería 3.">    </p:cNvPr>
          <p:cNvPicPr>
            <a:picLocks noChangeAspect="1"/>
          </p:cNvPicPr>
          <p:nvPr/>
        </p:nvPicPr>
        <p:blipFill>
          <a:blip r:embed="rId1"/>
          <a:srcRect l="-116" r="-116" t="0" b="0"/>
          <a:stretch/>
        </p:blipFill>
        <p:spPr>
          <a:xfrm>
            <a:off x="6559550" y="1977330"/>
            <a:ext cx="4813300" cy="3073400"/>
          </a:xfrm>
          <a:prstGeom prst="roundRect">
            <a:avLst>
              <a:gd name="adj" fmla="val 3099"/>
            </a:avLst>
          </a:prstGeom>
        </p:spPr>
      </p:pic>
      <p:sp>
        <p:nvSpPr>
          <p:cNvPr id="9" name="Shape 5"/>
          <p:cNvSpPr/>
          <p:nvPr/>
        </p:nvSpPr>
        <p:spPr>
          <a:xfrm>
            <a:off x="6556375" y="1974155"/>
            <a:ext cx="4819650" cy="3079750"/>
          </a:xfrm>
          <a:prstGeom prst="roundRect">
            <a:avLst>
              <a:gd name="adj" fmla="val 3196"/>
            </a:avLst>
          </a:prstGeom>
          <a:noFill/>
          <a:ln w="6350">
            <a:solidFill>
              <a:srgbClr val="D9E3E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CONSIGNA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Dónde está cada requisito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980"/>
            <a:ext cx="10566400" cy="3605907"/>
          </a:xfrm>
          <a:prstGeom prst="rect">
            <a:avLst/>
          </a:prstGeom>
          <a:solidFill>
            <a:srgbClr val="FFFFF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83680"/>
          <a:ext cx="10553700" cy="3593207"/>
        </p:xfrm>
        <a:graphic>
          <a:graphicData uri="http://schemas.openxmlformats.org/drawingml/2006/table">
            <a:tbl>
              <a:tblPr/>
              <a:tblGrid>
                <a:gridCol w="3588258"/>
                <a:gridCol w="6965442"/>
              </a:tblGrid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Requisito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8F5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En nuestro código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A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Excepciones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try/except/finally en validaciones.py y archivos.py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34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Persistencia JSON + texto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productos.json, clientes.json y ventas.txt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Precarga desde archivo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*_inicial.json, cargados por precarga.py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Tupla y conjunto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CATEGORIAS (tupla) · FORMAS_PAGO, respuestas si/no (conjuntos)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Comprensión y lambda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nuevo_codigo, bajo stock · ordenar por precio y stock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Dict de dicts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Productos (6 atributos) y clientes (5), con precarga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CRUD completo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Menús de productos y clientes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Reporte matricial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4 informes con listas de listas + gráfico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359321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Docstrings y validaciones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B2B29"/>
                          </a:solidFill>
                          <a:latin typeface="Nunito Sans" pitchFamily="34" charset="0"/>
                          <a:ea typeface="Nunito Sans" pitchFamily="34" charset="-122"/>
                          <a:cs typeface="Nunito Sans" pitchFamily="34" charset="-120"/>
                        </a:rPr>
                        <a:t>Todas las funciones · validar_entero, validar_texto…</a:t>
                      </a:r>
                      <a:endParaRPr lang="en-US" sz="1300" dirty="0">
                        <a:latin typeface="Nunito Sans" charset="0"/>
                        <a:ea typeface="Nunito Sans" charset="0"/>
                        <a:cs typeface="Nunito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EC3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0">
    <p:bg>
      <p:bgPr>
        <a:solidFill>
          <a:srgbClr val="E8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1F7A6E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 QUE APRENDIMOS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6329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Uso de IA y dificultades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70980"/>
            <a:ext cx="5181600" cy="387102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</p:spPr>
      </p:sp>
      <p:pic>
        <p:nvPicPr>
          <p:cNvPr id="5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92200" y="2250380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4000" y="2263080"/>
            <a:ext cx="274748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Uso crítico de la IA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76782" y="2707580"/>
            <a:ext cx="4669282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Revisar el código contra la consigna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Generar los datos de precarga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Descartamos lo que no vimos en clase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Validar los JSON al leer y guardar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197600" y="1970980"/>
            <a:ext cx="5181600" cy="3871020"/>
          </a:xfrm>
          <a:prstGeom prst="roundRect">
            <a:avLst>
              <a:gd name="adj" fmla="val 3281"/>
            </a:avLst>
          </a:prstGeom>
          <a:solidFill>
            <a:srgbClr val="FFFFFF"/>
          </a:solidFill>
          <a:ln/>
        </p:spPr>
      </p:sp>
      <p:pic>
        <p:nvPicPr>
          <p:cNvPr id="9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77000" y="2250380"/>
            <a:ext cx="330200" cy="33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8800" y="2263080"/>
            <a:ext cx="28339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3D3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Errores frecuentes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61582" y="2707580"/>
            <a:ext cx="4669282" cy="1020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KeyError: claves "1" vs 1 en JSON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ValueError al convertir con int()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Archivo no encontrado según la carpeta</a:t>
            </a:r>
            <a:endParaRPr lang="en-US" sz="1400" dirty="0"/>
          </a:p>
          <a:p>
            <a:pPr algn="l" marL="169418" indent="-169418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4A5A57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Tipos incorrectos o campos faltantes en JSON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B6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Grupo 4 · Sistema de Gestión de Farmacia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63000" y="0"/>
            <a:ext cx="3429000" cy="6858000"/>
          </a:xfrm>
          <a:prstGeom prst="rect">
            <a:avLst/>
          </a:prstGeom>
          <a:solidFill>
            <a:srgbClr val="2A9D8F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0947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7FD1C4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DEMO EN VIVO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1683990"/>
            <a:ext cx="7521575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8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Veámoslo funcionar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8604" y="3588990"/>
            <a:ext cx="7508151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8196" indent="-24819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BFD8D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Agregar un producto y escribir letras en el precio</a:t>
            </a:r>
            <a:endParaRPr lang="en-US" sz="1800" dirty="0"/>
          </a:p>
          <a:p>
            <a:pPr algn="l" marL="248196" indent="-24819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BFD8D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Vender a un cliente sin receta un remedio que la requiere</a:t>
            </a:r>
            <a:endParaRPr lang="en-US" sz="1800" dirty="0"/>
          </a:p>
          <a:p>
            <a:pPr algn="l" marL="248196" indent="-24819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BFD8D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Vender con obra social y ver el descuento</a:t>
            </a:r>
            <a:endParaRPr lang="en-US" sz="1800" dirty="0"/>
          </a:p>
          <a:p>
            <a:pPr algn="l" marL="248196" indent="-248196">
              <a:lnSpc>
                <a:spcPts val="2700"/>
              </a:lnSpc>
              <a:buSzPct val="100000"/>
              <a:buFontTx/>
              <a:buAutoNum type="arabicPeriod" startAt="1"/>
            </a:pPr>
            <a:r>
              <a:rPr lang="en-US" sz="1800" dirty="0">
                <a:solidFill>
                  <a:srgbClr val="BFD8D5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Ver el informe por categoría y el gráfico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5265390"/>
            <a:ext cx="10883392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8F5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¡Gracias! ¿Preguntas?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a de Gestión de Farmacia – Grupo 4">
  <a:themeElements>
    <a:clrScheme name="Sistema de Gestión de Farmacia – Grupo 4">
      <a:dk1>
        <a:srgbClr val="0F3D3A"/>
      </a:dk1>
      <a:lt1>
        <a:srgbClr val="F6F8F5"/>
      </a:lt1>
      <a:dk2>
        <a:srgbClr val="496C69"/>
      </a:dk2>
      <a:lt2>
        <a:srgbClr val="DFE5E2"/>
      </a:lt2>
      <a:accent1>
        <a:srgbClr val="1F7A6E"/>
      </a:accent1>
      <a:accent2>
        <a:srgbClr val="2A9D8F"/>
      </a:accent2>
      <a:accent3>
        <a:srgbClr val="7FD1C4"/>
      </a:accent3>
      <a:accent4>
        <a:srgbClr val="4A5A57"/>
      </a:accent4>
      <a:accent5>
        <a:srgbClr val="5B6B68"/>
      </a:accent5>
      <a:accent6>
        <a:srgbClr val="BFD8D5"/>
      </a:accent6>
      <a:hlink>
        <a:srgbClr val="0563C1"/>
      </a:hlink>
      <a:folHlink>
        <a:srgbClr val="954F72"/>
      </a:folHlink>
    </a:clrScheme>
    <a:fontScheme name="Sistema de Gestión de Farmacia – Grupo 4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Gestión de Farmacia – Grupo 4</dc:title>
  <dc:subject/>
  <dc:creator/>
  <cp:lastModifiedBy/>
  <cp:revision>1</cp:revision>
  <dcterms:created xsi:type="dcterms:W3CDTF">2026-10-19T19:15:56Z</dcterms:created>
  <dcterms:modified xsi:type="dcterms:W3CDTF">2026-10-19T19:15:56Z</dcterms:modified>
</cp:coreProperties>
</file>